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-914400"/>
            <a:ext cx="3657600" cy="365760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📚 快乐阅读小课堂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第一课：小兔子上学记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65760"/>
            <a:ext cx="11247120" cy="100584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37474F"/>
                </a:solidFill>
              </a:defRPr>
            </a:pPr>
            <a:r>
              <a:t>🎯 今天我们要学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800">
                <a:solidFill>
                  <a:srgbClr val="37474F"/>
                </a:solidFill>
              </a:defRPr>
            </a:pPr>
            <a:r>
              <a:t>🐰 认识新朋友 —— 小兔子</a:t>
            </a:r>
          </a:p>
          <a:p>
            <a:pPr>
              <a:spcAft>
                <a:spcPts val="1600"/>
              </a:spcAft>
              <a:defRPr sz="2800">
                <a:solidFill>
                  <a:srgbClr val="37474F"/>
                </a:solidFill>
              </a:defRPr>
            </a:pPr>
            <a:r>
              <a:t>📖 一起读故事，一起学本领</a:t>
            </a:r>
          </a:p>
          <a:p>
            <a:pPr>
              <a:spcAft>
                <a:spcPts val="1600"/>
              </a:spcAft>
              <a:defRPr sz="2800">
                <a:solidFill>
                  <a:srgbClr val="37474F"/>
                </a:solidFill>
              </a:defRPr>
            </a:pPr>
            <a:r>
              <a:t>✨ 认识新的字词朋友</a:t>
            </a:r>
          </a:p>
          <a:p>
            <a:pPr>
              <a:spcAft>
                <a:spcPts val="1600"/>
              </a:spcAft>
              <a:defRPr sz="2800">
                <a:solidFill>
                  <a:srgbClr val="37474F"/>
                </a:solidFill>
              </a:defRPr>
            </a:pPr>
            <a:r>
              <a:t>🎤 有感情地朗读故事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loud 2"/>
          <p:cNvSpPr/>
          <p:nvPr/>
        </p:nvSpPr>
        <p:spPr>
          <a:xfrm>
            <a:off x="9601200" y="274320"/>
            <a:ext cx="2011680" cy="1097280"/>
          </a:xfrm>
          <a:prstGeom prst="cloud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9800"/>
                </a:solidFill>
              </a:defRPr>
            </a:pPr>
            <a:r>
              <a:t>📖 故事开始啦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0972800" cy="48463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600" b="1">
                <a:solidFill>
                  <a:srgbClr val="FF9800"/>
                </a:solidFill>
              </a:defRPr>
            </a:pPr>
            <a:r>
              <a:t>清晨，太阳公公笑了。</a:t>
            </a:r>
          </a:p>
          <a:p>
            <a:pPr>
              <a:spcAft>
                <a:spcPts val="1200"/>
              </a:spcAft>
              <a:defRPr sz="2600" b="1">
                <a:solidFill>
                  <a:srgbClr val="FF9800"/>
                </a:solidFill>
              </a:defRPr>
            </a:pPr>
            <a:r>
              <a:t>小兔子背上小书包，</a:t>
            </a:r>
          </a:p>
          <a:p>
            <a:pPr>
              <a:spcAft>
                <a:spcPts val="1200"/>
              </a:spcAft>
              <a:defRPr sz="2600">
                <a:solidFill>
                  <a:srgbClr val="37474F"/>
                </a:solidFill>
              </a:defRPr>
            </a:pPr>
            <a:r>
              <a:t>高高兴兴去上学。</a:t>
            </a:r>
          </a:p>
          <a:p>
            <a:pPr>
              <a:spcAft>
                <a:spcPts val="1200"/>
              </a:spcAft>
              <a:defRPr sz="2600">
                <a:solidFill>
                  <a:srgbClr val="37474F"/>
                </a:solidFill>
              </a:defRPr>
            </a:pPr>
          </a:p>
          <a:p>
            <a:pPr>
              <a:spcAft>
                <a:spcPts val="1200"/>
              </a:spcAft>
              <a:defRPr sz="2600">
                <a:solidFill>
                  <a:srgbClr val="37474F"/>
                </a:solidFill>
              </a:defRPr>
            </a:pPr>
            <a:r>
              <a:t>"老师早！同学早！"</a:t>
            </a:r>
          </a:p>
          <a:p>
            <a:pPr>
              <a:spcAft>
                <a:spcPts val="1200"/>
              </a:spcAft>
              <a:defRPr sz="2600" b="1">
                <a:solidFill>
                  <a:srgbClr val="FF9800"/>
                </a:solidFill>
              </a:defRPr>
            </a:pPr>
            <a:r>
              <a:t>小兔子笑眯眯地说。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7474F"/>
                </a:solidFill>
              </a:defRPr>
            </a:pPr>
            <a:r>
              <a:t>1/2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9800"/>
                </a:solidFill>
              </a:defRPr>
            </a:pPr>
            <a:r>
              <a:t>✨ 认识新字词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474720" cy="2011680"/>
          </a:xfrm>
          <a:prstGeom prst="roundRect">
            <a:avLst/>
          </a:prstGeom>
          <a:solidFill>
            <a:srgbClr val="FFC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37474F"/>
                </a:solidFill>
              </a:defRPr>
            </a:pPr>
            <a:r>
              <a:t>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37474F"/>
                </a:solidFill>
              </a:defRPr>
            </a:pPr>
            <a:r>
              <a:t>tài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4320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7474F"/>
                </a:solidFill>
              </a:defRPr>
            </a:pPr>
            <a:r>
              <a:t>太阳 - 给我们光和热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371600"/>
            <a:ext cx="3474720" cy="2011680"/>
          </a:xfrm>
          <a:prstGeom prst="roundRect">
            <a:avLst/>
          </a:prstGeom>
          <a:solidFill>
            <a:srgbClr val="FF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1960" y="146304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37474F"/>
                </a:solidFill>
              </a:defRPr>
            </a:pPr>
            <a:r>
              <a:t>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3774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37474F"/>
                </a:solidFill>
              </a:defRPr>
            </a:pPr>
            <a:r>
              <a:t>yáng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274320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7474F"/>
                </a:solidFill>
              </a:defRPr>
            </a:pPr>
            <a:r>
              <a:t>太阳 - 白天在天上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371600"/>
            <a:ext cx="3474720" cy="2011680"/>
          </a:xfrm>
          <a:prstGeom prst="round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0" y="146304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37474F"/>
                </a:solidFill>
              </a:defRPr>
            </a:pPr>
            <a:r>
              <a:t>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0" y="23774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37474F"/>
                </a:solidFill>
              </a:defRPr>
            </a:pPr>
            <a:r>
              <a:t>xiào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0" y="274320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7474F"/>
                </a:solidFill>
              </a:defRPr>
            </a:pPr>
            <a:r>
              <a:t>笑了 - 开心、高兴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657600"/>
            <a:ext cx="3474720" cy="2011680"/>
          </a:xfrm>
          <a:prstGeom prst="round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74904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37474F"/>
                </a:solidFill>
              </a:defRPr>
            </a:pPr>
            <a:r>
              <a:t>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6634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37474F"/>
                </a:solidFill>
              </a:defRPr>
            </a:pPr>
            <a:r>
              <a:t>xué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02920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7474F"/>
                </a:solidFill>
              </a:defRPr>
            </a:pPr>
            <a:r>
              <a:t>上学 - 去学校学习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51960" y="3657600"/>
            <a:ext cx="3474720" cy="2011680"/>
          </a:xfrm>
          <a:prstGeom prst="roundRect">
            <a:avLst/>
          </a:prstGeom>
          <a:solidFill>
            <a:srgbClr val="E1B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51960" y="374904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37474F"/>
                </a:solidFill>
              </a:defRPr>
            </a:pPr>
            <a:r>
              <a:t>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46634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37474F"/>
                </a:solidFill>
              </a:defRPr>
            </a:pPr>
            <a:r>
              <a:t>shī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502920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7474F"/>
                </a:solidFill>
              </a:defRPr>
            </a:pPr>
            <a:r>
              <a:t>老师 - 教我们知识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55280" y="3657600"/>
            <a:ext cx="3474720" cy="2011680"/>
          </a:xfrm>
          <a:prstGeom prst="roundRect">
            <a:avLst/>
          </a:prstGeom>
          <a:solidFill>
            <a:srgbClr val="FFE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80" y="374904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37474F"/>
                </a:solidFill>
              </a:defRPr>
            </a:pPr>
            <a:r>
              <a:t>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80" y="46634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37474F"/>
                </a:solidFill>
              </a:defRPr>
            </a:pPr>
            <a:r>
              <a:t>zǎo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0" y="502920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7474F"/>
                </a:solidFill>
              </a:defRPr>
            </a:pPr>
            <a:r>
              <a:t>早上 - 一天的开头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65760"/>
            <a:ext cx="11247120" cy="100584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37474F"/>
                </a:solidFill>
              </a:defRPr>
            </a:pPr>
            <a:r>
              <a:t>🎤 一起读一读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800">
                <a:solidFill>
                  <a:srgbClr val="37474F"/>
                </a:solidFill>
              </a:defRPr>
            </a:pPr>
            <a:r>
              <a:t>"清晨，太阳公公笑了。"</a:t>
            </a:r>
          </a:p>
          <a:p>
            <a:pPr>
              <a:spcAft>
                <a:spcPts val="1600"/>
              </a:spcAft>
              <a:defRPr sz="2800">
                <a:solidFill>
                  <a:srgbClr val="37474F"/>
                </a:solidFill>
              </a:defRPr>
            </a:pPr>
            <a:r>
              <a:t>读的时候要注意：</a:t>
            </a:r>
          </a:p>
          <a:p>
            <a:pPr>
              <a:spcAft>
                <a:spcPts val="1600"/>
              </a:spcAft>
              <a:defRPr sz="2800">
                <a:solidFill>
                  <a:srgbClr val="37474F"/>
                </a:solidFill>
              </a:defRPr>
            </a:pPr>
          </a:p>
          <a:p>
            <a:pPr>
              <a:spcAft>
                <a:spcPts val="1600"/>
              </a:spcAft>
              <a:defRPr sz="2800">
                <a:solidFill>
                  <a:srgbClr val="37474F"/>
                </a:solidFill>
              </a:defRPr>
            </a:pPr>
            <a:r>
              <a:t>✅ 声音响亮，让全班都听见</a:t>
            </a:r>
          </a:p>
          <a:p>
            <a:pPr>
              <a:spcAft>
                <a:spcPts val="1600"/>
              </a:spcAft>
              <a:defRPr sz="2800">
                <a:solidFill>
                  <a:srgbClr val="37474F"/>
                </a:solidFill>
              </a:defRPr>
            </a:pPr>
            <a:r>
              <a:t>✅ 有感情，像讲故事一样</a:t>
            </a:r>
          </a:p>
          <a:p>
            <a:pPr>
              <a:spcAft>
                <a:spcPts val="1600"/>
              </a:spcAft>
              <a:defRPr sz="2800">
                <a:solidFill>
                  <a:srgbClr val="37474F"/>
                </a:solidFill>
              </a:defRPr>
            </a:pPr>
            <a:r>
              <a:t>✅ 不添字、不漏字、不错字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9800"/>
                </a:solidFill>
              </a:defRPr>
            </a:pPr>
            <a:r>
              <a:t>🤔 动脑筋想一想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7474F"/>
                </a:solidFill>
              </a:defRPr>
            </a:pPr>
            <a:r>
              <a:t>1. 小兔子什么时候去上学？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9800"/>
                </a:solidFill>
              </a:defRPr>
            </a:pPr>
            <a:r>
              <a:t>   答案：🌅 清晨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17520"/>
            <a:ext cx="1069848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7474F"/>
                </a:solidFill>
              </a:defRPr>
            </a:pPr>
            <a:r>
              <a:t>2. 小兔子上学的心情怎么样？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947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9800"/>
                </a:solidFill>
              </a:defRPr>
            </a:pPr>
            <a:r>
              <a:t>   答案：😊 高高兴兴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63440"/>
            <a:ext cx="1069848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846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7474F"/>
                </a:solidFill>
              </a:defRPr>
            </a:pPr>
            <a:r>
              <a:t>3. 太阳公公怎么了？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4406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9800"/>
                </a:solidFill>
              </a:defRPr>
            </a:pPr>
            <a:r>
              <a:t>   答案：☀️ 笑了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65760"/>
            <a:ext cx="11247120" cy="100584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37474F"/>
                </a:solidFill>
              </a:defRPr>
            </a:pPr>
            <a:r>
              <a:t>🌟 今天的收获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800">
                <a:solidFill>
                  <a:srgbClr val="37474F"/>
                </a:solidFill>
              </a:defRPr>
            </a:pPr>
            <a:r>
              <a:t>1️⃣ 读了一个有趣的故事《小兔子上学记》</a:t>
            </a:r>
          </a:p>
          <a:p>
            <a:pPr>
              <a:spcAft>
                <a:spcPts val="1600"/>
              </a:spcAft>
              <a:defRPr sz="2800">
                <a:solidFill>
                  <a:srgbClr val="37474F"/>
                </a:solidFill>
              </a:defRPr>
            </a:pPr>
          </a:p>
          <a:p>
            <a:pPr>
              <a:spcAft>
                <a:spcPts val="1600"/>
              </a:spcAft>
              <a:defRPr sz="2800">
                <a:solidFill>
                  <a:srgbClr val="37474F"/>
                </a:solidFill>
              </a:defRPr>
            </a:pPr>
            <a:r>
              <a:t>2️⃣ 认识了6个新的字词朋友</a:t>
            </a:r>
          </a:p>
          <a:p>
            <a:pPr>
              <a:spcAft>
                <a:spcPts val="1600"/>
              </a:spcAft>
              <a:defRPr sz="2800">
                <a:solidFill>
                  <a:srgbClr val="37474F"/>
                </a:solidFill>
              </a:defRPr>
            </a:pPr>
          </a:p>
          <a:p>
            <a:pPr>
              <a:spcAft>
                <a:spcPts val="1600"/>
              </a:spcAft>
              <a:defRPr sz="2800">
                <a:solidFill>
                  <a:srgbClr val="37474F"/>
                </a:solidFill>
              </a:defRPr>
            </a:pPr>
            <a:r>
              <a:t>3️⃣ 学会了有感情地朗读</a:t>
            </a:r>
          </a:p>
          <a:p>
            <a:pPr>
              <a:spcAft>
                <a:spcPts val="1600"/>
              </a:spcAft>
              <a:defRPr sz="2800">
                <a:solidFill>
                  <a:srgbClr val="37474F"/>
                </a:solidFill>
              </a:defRPr>
            </a:pPr>
          </a:p>
          <a:p>
            <a:pPr>
              <a:spcAft>
                <a:spcPts val="1600"/>
              </a:spcAft>
              <a:defRPr sz="2800">
                <a:solidFill>
                  <a:srgbClr val="37474F"/>
                </a:solidFill>
              </a:defRPr>
            </a:pPr>
            <a:r>
              <a:t>4️⃣ 明白了上学要开开心心的道理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65760"/>
            <a:ext cx="11247120" cy="100584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37474F"/>
                </a:solidFill>
              </a:defRPr>
            </a:pPr>
            <a:r>
              <a:t>📝 作业小任务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800">
                <a:solidFill>
                  <a:srgbClr val="37474F"/>
                </a:solidFill>
              </a:defRPr>
            </a:pPr>
            <a:r>
              <a:t>📚 把今天的故事读给爸爸妈妈听</a:t>
            </a:r>
          </a:p>
          <a:p>
            <a:pPr>
              <a:spcAft>
                <a:spcPts val="1600"/>
              </a:spcAft>
              <a:defRPr sz="2800">
                <a:solidFill>
                  <a:srgbClr val="37474F"/>
                </a:solidFill>
              </a:defRPr>
            </a:pPr>
          </a:p>
          <a:p>
            <a:pPr>
              <a:spcAft>
                <a:spcPts val="1600"/>
              </a:spcAft>
              <a:defRPr sz="2800">
                <a:solidFill>
                  <a:srgbClr val="37474F"/>
                </a:solidFill>
              </a:defRPr>
            </a:pPr>
            <a:r>
              <a:t>🖍️ 用彩笔画一幅"小兔子上学"的图画</a:t>
            </a:r>
          </a:p>
          <a:p>
            <a:pPr>
              <a:spcAft>
                <a:spcPts val="1600"/>
              </a:spcAft>
              <a:defRPr sz="2800">
                <a:solidFill>
                  <a:srgbClr val="37474F"/>
                </a:solidFill>
              </a:defRPr>
            </a:pPr>
          </a:p>
          <a:p>
            <a:pPr>
              <a:spcAft>
                <a:spcPts val="1600"/>
              </a:spcAft>
              <a:defRPr sz="2800">
                <a:solidFill>
                  <a:srgbClr val="37474F"/>
                </a:solidFill>
              </a:defRPr>
            </a:pPr>
            <a:r>
              <a:t>💬 和爸爸妈妈聊聊：你上学时是什么心情？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-914400"/>
            <a:ext cx="3657600" cy="365760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下节课再见！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👋 谢谢小朋友们！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